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5c4b060-2d7f-4f1b-6ab2-38a0bd2852f0}">
          <p14:sldIdLst>
            <p14:sldId id="256"/>
            <p14:sldId id="257"/>
            <p14:sldId id="258"/>
          </p14:sldIdLst>
        </p14:section>
        <p14:section name="Como funciona" id="{f290481d-0189-e8ac-b507-c0543f9171df}">
          <p14:sldIdLst>
            <p14:sldId id="259"/>
            <p14:sldId id="260"/>
            <p14:sldId id="261"/>
          </p14:sldIdLst>
        </p14:section>
        <p14:section name="Gestão" id="{7ceca8a7-5955-ea3f-3e29-429eaec91e13}">
          <p14:sldIdLst>
            <p14:sldId id="262"/>
            <p14:sldId id="263"/>
          </p14:sldIdLst>
        </p14:section>
        <p14:section name="Combinado" id="{534c307c-3ea7-cca2-cdf0-eedbd9bf4fa1}">
          <p14:sldIdLst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dizendo que é uma ferramenta nossa, feita para o jeito que a equipe já trabalha. Não muda como marcamos visitas; muda o que sabemos depois delas.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para a sala: de cada 10 visitas da semana passada, quantas viraram proposta? Ninguém sabe ao certo, e não é culpa de ninguém, é falta de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palavras para guardar: rápido, automático, visível. Funciona como aplicativo na tela do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Jasmin nada muda: ela marca na agenda e convida a consultora e a conta do sistema. Mudou horário ou cancelou na agenda, o sistema acompanha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ao vivo no celular, se der. Errou? Aparece um Desfazer logo depois de salvar. Depois de salvar, o app já abre a próxima visita pendente. O cliente do exemplo é fictício.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 e imóvel do exemplo são fictícios. As duas marcações ajudam a gestão a ver quantos clientes voltam e quantas visitas nascem do trabalho da própria consultora.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agendadas, realizadas, positivas e cobertura, que é quanto das visitas já tem registro. Meta de cobertura: 90%. Andamento: em acompanhamento, documentação em análise, locação fechada ou perdida.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não é fiscalizar, é saber onde apoiar: qual imóvel precisa de ajuste de preço, qual objeção aparece mais, quem precisa de reforço.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Visita sem registro há mais de 24 horas aparece destacada no painel. Nas primeiras semanas, o foco é a cobertura: registrar 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Fazer junto com a equipe, ali na hora: cada uma entra, troca a senha, instala no celular e ativa os lembretes. Leva uns 5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pp-aluguel/e0792ca7-1910-50aa-ad35-7f818f624655/scratchpad/deck/logo-br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377440" cy="58521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33172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977640"/>
            <a:ext cx="8229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pic>
        <p:nvPicPr>
          <p:cNvPr id="3" name="Image 0" descr="/tmp/claude-0/-home-user-app-aluguel/e0792ca7-1910-50aa-ad35-7f818f624655/scratchpad/deck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1415" y="6291072"/>
            <a:ext cx="1554480" cy="382641"/>
          </a:xfrm>
          <a:prstGeom prst="rect">
            <a:avLst/>
          </a:prstGeom>
        </p:spPr>
      </p:pic>
      <p:sp>
        <p:nvSpPr>
          <p:cNvPr id="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10820095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114800"/>
            <a:ext cx="108200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85800" y="23317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Visitas Locação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39776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Cada visita conta. Agora a gente enxerga todas.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Marcamos muitas visitas. Mas o que acontece depois?</a:t>
            </a:r>
            <a:endParaRPr lang="en-US" sz="3800" dirty="0"/>
          </a:p>
        </p:txBody>
      </p:sp>
      <p:sp>
        <p:nvSpPr>
          <p:cNvPr id="3" name="cartao-1"/>
          <p:cNvSpPr/>
          <p:nvPr/>
        </p:nvSpPr>
        <p:spPr>
          <a:xfrm>
            <a:off x="685800" y="2057400"/>
            <a:ext cx="33832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4" name="icone-fundo-2"/>
          <p:cNvSpPr/>
          <p:nvPr/>
        </p:nvSpPr>
        <p:spPr>
          <a:xfrm>
            <a:off x="1097280" y="25146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-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715768"/>
            <a:ext cx="512064" cy="512064"/>
          </a:xfrm>
          <a:prstGeom prst="rect">
            <a:avLst/>
          </a:prstGeom>
        </p:spPr>
      </p:pic>
      <p:sp>
        <p:nvSpPr>
          <p:cNvPr id="6" name="texto-4"/>
          <p:cNvSpPr txBox="1"/>
          <p:nvPr/>
        </p:nvSpPr>
        <p:spPr>
          <a:xfrm>
            <a:off x="1097280" y="37947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foi?</a:t>
            </a:r>
            <a:endParaRPr lang="en-US" sz="2800" dirty="0"/>
          </a:p>
        </p:txBody>
      </p:sp>
      <p:sp>
        <p:nvSpPr>
          <p:cNvPr id="7" name="cartao-5"/>
          <p:cNvSpPr/>
          <p:nvPr/>
        </p:nvSpPr>
        <p:spPr>
          <a:xfrm>
            <a:off x="4343400" y="2057400"/>
            <a:ext cx="33832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8" name="icone-fundo-6"/>
          <p:cNvSpPr/>
          <p:nvPr/>
        </p:nvSpPr>
        <p:spPr>
          <a:xfrm>
            <a:off x="4754880" y="25146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e-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15768"/>
            <a:ext cx="512064" cy="512064"/>
          </a:xfrm>
          <a:prstGeom prst="rect">
            <a:avLst/>
          </a:prstGeom>
        </p:spPr>
      </p:pic>
      <p:sp>
        <p:nvSpPr>
          <p:cNvPr id="10" name="texto-8"/>
          <p:cNvSpPr txBox="1"/>
          <p:nvPr/>
        </p:nvSpPr>
        <p:spPr>
          <a:xfrm>
            <a:off x="4754880" y="37947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Gostou do imóvel?</a:t>
            </a:r>
            <a:endParaRPr lang="en-US" sz="2800" dirty="0"/>
          </a:p>
        </p:txBody>
      </p:sp>
      <p:sp>
        <p:nvSpPr>
          <p:cNvPr id="11" name="cartao-9"/>
          <p:cNvSpPr/>
          <p:nvPr/>
        </p:nvSpPr>
        <p:spPr>
          <a:xfrm>
            <a:off x="8001000" y="2057400"/>
            <a:ext cx="3383280" cy="329184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/>
        </p:spPr>
      </p:sp>
      <p:sp>
        <p:nvSpPr>
          <p:cNvPr id="12" name="icone-fundo-10"/>
          <p:cNvSpPr/>
          <p:nvPr/>
        </p:nvSpPr>
        <p:spPr>
          <a:xfrm>
            <a:off x="8412480" y="25146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e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2715768"/>
            <a:ext cx="512064" cy="512064"/>
          </a:xfrm>
          <a:prstGeom prst="rect">
            <a:avLst/>
          </a:prstGeom>
        </p:spPr>
      </p:pic>
      <p:sp>
        <p:nvSpPr>
          <p:cNvPr id="14" name="texto-12"/>
          <p:cNvSpPr txBox="1"/>
          <p:nvPr/>
        </p:nvSpPr>
        <p:spPr>
          <a:xfrm>
            <a:off x="8412480" y="37947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não fechou?</a:t>
            </a:r>
            <a:endParaRPr lang="en-US" sz="2800" dirty="0"/>
          </a:p>
        </p:txBody>
      </p:sp>
      <p:sp>
        <p:nvSpPr>
          <p:cNvPr id="15" name="texto-13"/>
          <p:cNvSpPr txBox="1"/>
          <p:nvPr/>
        </p:nvSpPr>
        <p:spPr>
          <a:xfrm>
            <a:off x="685800" y="562356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 essas respostas ficam na cabeça de cada uma e se perdem.</a:t>
            </a:r>
            <a:endParaRPr lang="en-US" sz="1800" dirty="0"/>
          </a:p>
        </p:txBody>
      </p:sp>
      <p:sp>
        <p:nvSpPr>
          <p:cNvPr id="1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Um app simples, no celular de cada consultora</a:t>
            </a:r>
            <a:endParaRPr lang="en-US" sz="3800" dirty="0"/>
          </a:p>
        </p:txBody>
      </p:sp>
      <p:sp>
        <p:nvSpPr>
          <p:cNvPr id="3" name="icone-fundo-14"/>
          <p:cNvSpPr/>
          <p:nvPr/>
        </p:nvSpPr>
        <p:spPr>
          <a:xfrm>
            <a:off x="685800" y="21945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e-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415845"/>
            <a:ext cx="563270" cy="563270"/>
          </a:xfrm>
          <a:prstGeom prst="rect">
            <a:avLst/>
          </a:prstGeom>
        </p:spPr>
      </p:pic>
      <p:sp>
        <p:nvSpPr>
          <p:cNvPr id="5" name="texto-16"/>
          <p:cNvSpPr txBox="1"/>
          <p:nvPr/>
        </p:nvSpPr>
        <p:spPr>
          <a:xfrm>
            <a:off x="6858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Rápido</a:t>
            </a:r>
            <a:endParaRPr lang="en-US" sz="3000" dirty="0"/>
          </a:p>
        </p:txBody>
      </p:sp>
      <p:sp>
        <p:nvSpPr>
          <p:cNvPr id="6" name="texto-17"/>
          <p:cNvSpPr txBox="1"/>
          <p:nvPr/>
        </p:nvSpPr>
        <p:spPr>
          <a:xfrm>
            <a:off x="685800" y="41148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uma visita leva menos de um minuto.</a:t>
            </a:r>
            <a:endParaRPr lang="en-US" sz="2000" dirty="0"/>
          </a:p>
        </p:txBody>
      </p:sp>
      <p:sp>
        <p:nvSpPr>
          <p:cNvPr id="7" name="icone-fundo-18"/>
          <p:cNvSpPr/>
          <p:nvPr/>
        </p:nvSpPr>
        <p:spPr>
          <a:xfrm>
            <a:off x="4343400" y="21945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e-1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4685" y="2415845"/>
            <a:ext cx="563270" cy="563270"/>
          </a:xfrm>
          <a:prstGeom prst="rect">
            <a:avLst/>
          </a:prstGeom>
        </p:spPr>
      </p:pic>
      <p:sp>
        <p:nvSpPr>
          <p:cNvPr id="9" name="texto-20"/>
          <p:cNvSpPr txBox="1"/>
          <p:nvPr/>
        </p:nvSpPr>
        <p:spPr>
          <a:xfrm>
            <a:off x="43434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3000" dirty="0"/>
          </a:p>
        </p:txBody>
      </p:sp>
      <p:sp>
        <p:nvSpPr>
          <p:cNvPr id="10" name="texto-21"/>
          <p:cNvSpPr txBox="1"/>
          <p:nvPr/>
        </p:nvSpPr>
        <p:spPr>
          <a:xfrm>
            <a:off x="4343400" y="41148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chega sozinha da agenda. Ninguém digita duas vezes.</a:t>
            </a:r>
            <a:endParaRPr lang="en-US" sz="2000" dirty="0"/>
          </a:p>
        </p:txBody>
      </p:sp>
      <p:sp>
        <p:nvSpPr>
          <p:cNvPr id="11" name="icone-fundo-22"/>
          <p:cNvSpPr/>
          <p:nvPr/>
        </p:nvSpPr>
        <p:spPr>
          <a:xfrm>
            <a:off x="8001000" y="219456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e-2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2285" y="2415845"/>
            <a:ext cx="563270" cy="563270"/>
          </a:xfrm>
          <a:prstGeom prst="rect">
            <a:avLst/>
          </a:prstGeom>
        </p:spPr>
      </p:pic>
      <p:sp>
        <p:nvSpPr>
          <p:cNvPr id="13" name="texto-24"/>
          <p:cNvSpPr txBox="1"/>
          <p:nvPr/>
        </p:nvSpPr>
        <p:spPr>
          <a:xfrm>
            <a:off x="8001000" y="3474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Visível</a:t>
            </a:r>
            <a:endParaRPr lang="en-US" sz="3000" dirty="0"/>
          </a:p>
        </p:txBody>
      </p:sp>
      <p:sp>
        <p:nvSpPr>
          <p:cNvPr id="14" name="texto-25"/>
          <p:cNvSpPr txBox="1"/>
          <p:nvPr/>
        </p:nvSpPr>
        <p:spPr>
          <a:xfrm>
            <a:off x="8001000" y="41148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gestão acompanha tudo em tempo real, sem planilha.</a:t>
            </a:r>
            <a:endParaRPr lang="en-US" sz="20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Do agendamento ao resultado, em 4 passos</a:t>
            </a:r>
            <a:endParaRPr lang="en-US" sz="3800" dirty="0"/>
          </a:p>
        </p:txBody>
      </p:sp>
      <p:sp>
        <p:nvSpPr>
          <p:cNvPr id="3" name="icone-fundo-26"/>
          <p:cNvSpPr/>
          <p:nvPr/>
        </p:nvSpPr>
        <p:spPr>
          <a:xfrm>
            <a:off x="685800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e-2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2324405"/>
            <a:ext cx="563270" cy="563270"/>
          </a:xfrm>
          <a:prstGeom prst="rect">
            <a:avLst/>
          </a:prstGeom>
        </p:spPr>
      </p:pic>
      <p:sp>
        <p:nvSpPr>
          <p:cNvPr id="5" name="texto-28"/>
          <p:cNvSpPr txBox="1"/>
          <p:nvPr/>
        </p:nvSpPr>
        <p:spPr>
          <a:xfrm>
            <a:off x="1874520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texto-29"/>
          <p:cNvSpPr txBox="1"/>
          <p:nvPr/>
        </p:nvSpPr>
        <p:spPr>
          <a:xfrm>
            <a:off x="685800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Jasmin marca</a:t>
            </a:r>
            <a:endParaRPr lang="en-US" sz="2400" dirty="0"/>
          </a:p>
        </p:txBody>
      </p:sp>
      <p:sp>
        <p:nvSpPr>
          <p:cNvPr id="7" name="texto-30"/>
          <p:cNvSpPr txBox="1"/>
          <p:nvPr/>
        </p:nvSpPr>
        <p:spPr>
          <a:xfrm>
            <a:off x="685800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agenda, como sempre, convidando a consultora</a:t>
            </a:r>
            <a:endParaRPr lang="en-US" sz="1800" dirty="0"/>
          </a:p>
        </p:txBody>
      </p:sp>
      <p:pic>
        <p:nvPicPr>
          <p:cNvPr id="8" name="seta-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269" y="2377440"/>
            <a:ext cx="457200" cy="457200"/>
          </a:xfrm>
          <a:prstGeom prst="rect">
            <a:avLst/>
          </a:prstGeom>
        </p:spPr>
      </p:pic>
      <p:sp>
        <p:nvSpPr>
          <p:cNvPr id="9" name="icone-fundo-32"/>
          <p:cNvSpPr/>
          <p:nvPr/>
        </p:nvSpPr>
        <p:spPr>
          <a:xfrm>
            <a:off x="3484778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-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063" y="2324405"/>
            <a:ext cx="563270" cy="563270"/>
          </a:xfrm>
          <a:prstGeom prst="rect">
            <a:avLst/>
          </a:prstGeom>
        </p:spPr>
      </p:pic>
      <p:sp>
        <p:nvSpPr>
          <p:cNvPr id="11" name="texto-34"/>
          <p:cNvSpPr txBox="1"/>
          <p:nvPr/>
        </p:nvSpPr>
        <p:spPr>
          <a:xfrm>
            <a:off x="4673498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o-35"/>
          <p:cNvSpPr txBox="1"/>
          <p:nvPr/>
        </p:nvSpPr>
        <p:spPr>
          <a:xfrm>
            <a:off x="3484778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 no celular</a:t>
            </a:r>
            <a:endParaRPr lang="en-US" sz="2400" dirty="0"/>
          </a:p>
        </p:txBody>
      </p:sp>
      <p:sp>
        <p:nvSpPr>
          <p:cNvPr id="13" name="texto-36"/>
          <p:cNvSpPr txBox="1"/>
          <p:nvPr/>
        </p:nvSpPr>
        <p:spPr>
          <a:xfrm>
            <a:off x="3484778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consultora em poucos minutos, com todos os dados</a:t>
            </a:r>
            <a:endParaRPr lang="en-US" sz="1800" dirty="0"/>
          </a:p>
        </p:txBody>
      </p:sp>
      <p:pic>
        <p:nvPicPr>
          <p:cNvPr id="14" name="seta-3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2377440"/>
            <a:ext cx="457200" cy="457200"/>
          </a:xfrm>
          <a:prstGeom prst="rect">
            <a:avLst/>
          </a:prstGeom>
        </p:spPr>
      </p:pic>
      <p:sp>
        <p:nvSpPr>
          <p:cNvPr id="15" name="icone-fundo-38"/>
          <p:cNvSpPr/>
          <p:nvPr/>
        </p:nvSpPr>
        <p:spPr>
          <a:xfrm>
            <a:off x="6283757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e-3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5042" y="2324405"/>
            <a:ext cx="563270" cy="563270"/>
          </a:xfrm>
          <a:prstGeom prst="rect">
            <a:avLst/>
          </a:prstGeom>
        </p:spPr>
      </p:pic>
      <p:sp>
        <p:nvSpPr>
          <p:cNvPr id="17" name="texto-40"/>
          <p:cNvSpPr txBox="1"/>
          <p:nvPr/>
        </p:nvSpPr>
        <p:spPr>
          <a:xfrm>
            <a:off x="7472477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texto-41"/>
          <p:cNvSpPr txBox="1"/>
          <p:nvPr/>
        </p:nvSpPr>
        <p:spPr>
          <a:xfrm>
            <a:off x="6283757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visita acontece</a:t>
            </a:r>
            <a:endParaRPr lang="en-US" sz="2400" dirty="0"/>
          </a:p>
        </p:txBody>
      </p:sp>
      <p:sp>
        <p:nvSpPr>
          <p:cNvPr id="19" name="texto-42"/>
          <p:cNvSpPr txBox="1"/>
          <p:nvPr/>
        </p:nvSpPr>
        <p:spPr>
          <a:xfrm>
            <a:off x="6283757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consultora já sabe quem é o cliente e qual o imóvel</a:t>
            </a:r>
            <a:endParaRPr lang="en-US" sz="1800" dirty="0"/>
          </a:p>
        </p:txBody>
      </p:sp>
      <p:pic>
        <p:nvPicPr>
          <p:cNvPr id="20" name="seta-4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6226" y="2377440"/>
            <a:ext cx="457200" cy="457200"/>
          </a:xfrm>
          <a:prstGeom prst="rect">
            <a:avLst/>
          </a:prstGeom>
        </p:spPr>
      </p:pic>
      <p:sp>
        <p:nvSpPr>
          <p:cNvPr id="21" name="icone-fundo-44"/>
          <p:cNvSpPr/>
          <p:nvPr/>
        </p:nvSpPr>
        <p:spPr>
          <a:xfrm>
            <a:off x="9082735" y="210312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e-4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4020" y="2324405"/>
            <a:ext cx="563270" cy="563270"/>
          </a:xfrm>
          <a:prstGeom prst="rect">
            <a:avLst/>
          </a:prstGeom>
        </p:spPr>
      </p:pic>
      <p:sp>
        <p:nvSpPr>
          <p:cNvPr id="23" name="texto-46"/>
          <p:cNvSpPr txBox="1"/>
          <p:nvPr/>
        </p:nvSpPr>
        <p:spPr>
          <a:xfrm>
            <a:off x="10271455" y="224028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24" name="texto-47"/>
          <p:cNvSpPr txBox="1"/>
          <p:nvPr/>
        </p:nvSpPr>
        <p:spPr>
          <a:xfrm>
            <a:off x="9082735" y="338328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rápido</a:t>
            </a:r>
            <a:endParaRPr lang="en-US" sz="2400" dirty="0"/>
          </a:p>
        </p:txBody>
      </p:sp>
      <p:sp>
        <p:nvSpPr>
          <p:cNvPr id="25" name="texto-48"/>
          <p:cNvSpPr txBox="1"/>
          <p:nvPr/>
        </p:nvSpPr>
        <p:spPr>
          <a:xfrm>
            <a:off x="9082735" y="4343400"/>
            <a:ext cx="2423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 aconteceu, em menos de 1 minuto</a:t>
            </a:r>
            <a:endParaRPr lang="en-US" sz="180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Registrar é responder quatro perguntas</a:t>
            </a:r>
            <a:endParaRPr lang="en-US" sz="3800" dirty="0"/>
          </a:p>
        </p:txBody>
      </p:sp>
      <p:sp>
        <p:nvSpPr>
          <p:cNvPr id="3" name="numero-49"/>
          <p:cNvSpPr/>
          <p:nvPr/>
        </p:nvSpPr>
        <p:spPr>
          <a:xfrm>
            <a:off x="685800" y="1828800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texto-50"/>
          <p:cNvSpPr txBox="1"/>
          <p:nvPr/>
        </p:nvSpPr>
        <p:spPr>
          <a:xfrm>
            <a:off x="68580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o-51"/>
          <p:cNvSpPr txBox="1"/>
          <p:nvPr/>
        </p:nvSpPr>
        <p:spPr>
          <a:xfrm>
            <a:off x="1508760" y="178308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Aconteceu?</a:t>
            </a:r>
            <a:endParaRPr lang="en-US" sz="2400" dirty="0"/>
          </a:p>
        </p:txBody>
      </p:sp>
      <p:sp>
        <p:nvSpPr>
          <p:cNvPr id="6" name="texto-52"/>
          <p:cNvSpPr txBox="1"/>
          <p:nvPr/>
        </p:nvSpPr>
        <p:spPr>
          <a:xfrm>
            <a:off x="1508760" y="220370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não compareceu, cancelada ou remarcada</a:t>
            </a:r>
            <a:endParaRPr lang="en-US" sz="1800" dirty="0"/>
          </a:p>
        </p:txBody>
      </p:sp>
      <p:sp>
        <p:nvSpPr>
          <p:cNvPr id="7" name="numero-53"/>
          <p:cNvSpPr/>
          <p:nvPr/>
        </p:nvSpPr>
        <p:spPr>
          <a:xfrm>
            <a:off x="685800" y="2852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texto-54"/>
          <p:cNvSpPr txBox="1"/>
          <p:nvPr/>
        </p:nvSpPr>
        <p:spPr>
          <a:xfrm>
            <a:off x="685800" y="2852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o-55"/>
          <p:cNvSpPr txBox="1"/>
          <p:nvPr/>
        </p:nvSpPr>
        <p:spPr>
          <a:xfrm>
            <a:off x="1508760" y="280720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foi?</a:t>
            </a:r>
            <a:endParaRPr lang="en-US" sz="2400" dirty="0"/>
          </a:p>
        </p:txBody>
      </p:sp>
      <p:sp>
        <p:nvSpPr>
          <p:cNvPr id="10" name="texto-56"/>
          <p:cNvSpPr txBox="1"/>
          <p:nvPr/>
        </p:nvSpPr>
        <p:spPr>
          <a:xfrm>
            <a:off x="1508760" y="322783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Positiva, negativa ou ainda decidindo</a:t>
            </a:r>
            <a:endParaRPr lang="en-US" sz="1800" dirty="0"/>
          </a:p>
        </p:txBody>
      </p:sp>
      <p:sp>
        <p:nvSpPr>
          <p:cNvPr id="11" name="numero-57"/>
          <p:cNvSpPr/>
          <p:nvPr/>
        </p:nvSpPr>
        <p:spPr>
          <a:xfrm>
            <a:off x="685800" y="3877056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o-58"/>
          <p:cNvSpPr txBox="1"/>
          <p:nvPr/>
        </p:nvSpPr>
        <p:spPr>
          <a:xfrm>
            <a:off x="685800" y="3877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o-59"/>
          <p:cNvSpPr txBox="1"/>
          <p:nvPr/>
        </p:nvSpPr>
        <p:spPr>
          <a:xfrm>
            <a:off x="1508760" y="3831336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quê?</a:t>
            </a:r>
            <a:endParaRPr lang="en-US" sz="2400" dirty="0"/>
          </a:p>
        </p:txBody>
      </p:sp>
      <p:sp>
        <p:nvSpPr>
          <p:cNvPr id="14" name="texto-60"/>
          <p:cNvSpPr txBox="1"/>
          <p:nvPr/>
        </p:nvSpPr>
        <p:spPr>
          <a:xfrm>
            <a:off x="1508760" y="425196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negativa, o motivo principal da lista</a:t>
            </a:r>
            <a:endParaRPr lang="en-US" sz="1800" dirty="0"/>
          </a:p>
        </p:txBody>
      </p:sp>
      <p:sp>
        <p:nvSpPr>
          <p:cNvPr id="15" name="numero-61"/>
          <p:cNvSpPr/>
          <p:nvPr/>
        </p:nvSpPr>
        <p:spPr>
          <a:xfrm>
            <a:off x="685800" y="4901184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o-62"/>
          <p:cNvSpPr txBox="1"/>
          <p:nvPr/>
        </p:nvSpPr>
        <p:spPr>
          <a:xfrm>
            <a:off x="685800" y="49011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o-63"/>
          <p:cNvSpPr txBox="1"/>
          <p:nvPr/>
        </p:nvSpPr>
        <p:spPr>
          <a:xfrm>
            <a:off x="1508760" y="485546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2400" dirty="0"/>
          </a:p>
        </p:txBody>
      </p:sp>
      <p:sp>
        <p:nvSpPr>
          <p:cNvPr id="18" name="texto-64"/>
          <p:cNvSpPr txBox="1"/>
          <p:nvPr/>
        </p:nvSpPr>
        <p:spPr>
          <a:xfrm>
            <a:off x="1508760" y="52760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frase. Tem respostas prontas e dá para ditar</a:t>
            </a:r>
            <a:endParaRPr lang="en-US" sz="1800" dirty="0"/>
          </a:p>
        </p:txBody>
      </p:sp>
      <p:sp>
        <p:nvSpPr>
          <p:cNvPr id="19" name="celular-65"/>
          <p:cNvSpPr/>
          <p:nvPr/>
        </p:nvSpPr>
        <p:spPr>
          <a:xfrm>
            <a:off x="8229600" y="1280160"/>
            <a:ext cx="2926080" cy="4709160"/>
          </a:xfrm>
          <a:prstGeom prst="roundRect">
            <a:avLst>
              <a:gd name="adj" fmla="val 10938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20" name="tela-66"/>
          <p:cNvSpPr/>
          <p:nvPr/>
        </p:nvSpPr>
        <p:spPr>
          <a:xfrm>
            <a:off x="8366760" y="1481328"/>
            <a:ext cx="2651760" cy="4306824"/>
          </a:xfrm>
          <a:prstGeom prst="roundRect">
            <a:avLst>
              <a:gd name="adj" fmla="val 8621"/>
            </a:avLst>
          </a:prstGeom>
          <a:solidFill>
            <a:schemeClr val="bg1"/>
          </a:solidFill>
          <a:ln/>
        </p:spPr>
      </p:sp>
      <p:sp>
        <p:nvSpPr>
          <p:cNvPr id="21" name="texto-67"/>
          <p:cNvSpPr txBox="1"/>
          <p:nvPr/>
        </p:nvSpPr>
        <p:spPr>
          <a:xfrm>
            <a:off x="8567928" y="17099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resultado</a:t>
            </a:r>
            <a:endParaRPr lang="en-US" sz="1400" dirty="0"/>
          </a:p>
        </p:txBody>
      </p:sp>
      <p:sp>
        <p:nvSpPr>
          <p:cNvPr id="22" name="texto-68"/>
          <p:cNvSpPr txBox="1"/>
          <p:nvPr/>
        </p:nvSpPr>
        <p:spPr>
          <a:xfrm>
            <a:off x="8567928" y="20299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Souza · imóvel 761739</a:t>
            </a:r>
            <a:endParaRPr lang="en-US" sz="1000" dirty="0"/>
          </a:p>
        </p:txBody>
      </p:sp>
      <p:sp>
        <p:nvSpPr>
          <p:cNvPr id="23" name="texto-69"/>
          <p:cNvSpPr txBox="1"/>
          <p:nvPr/>
        </p:nvSpPr>
        <p:spPr>
          <a:xfrm>
            <a:off x="8567928" y="24414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Aconteceu?</a:t>
            </a:r>
            <a:endParaRPr lang="en-US" sz="900" dirty="0"/>
          </a:p>
        </p:txBody>
      </p:sp>
      <p:sp>
        <p:nvSpPr>
          <p:cNvPr id="24" name="opcao-70"/>
          <p:cNvSpPr/>
          <p:nvPr/>
        </p:nvSpPr>
        <p:spPr>
          <a:xfrm>
            <a:off x="8567928" y="2688336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o-71"/>
          <p:cNvSpPr txBox="1"/>
          <p:nvPr/>
        </p:nvSpPr>
        <p:spPr>
          <a:xfrm>
            <a:off x="8732520" y="26883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aconteceu</a:t>
            </a:r>
            <a:endParaRPr lang="en-US" sz="1100" dirty="0"/>
          </a:p>
        </p:txBody>
      </p:sp>
      <p:sp>
        <p:nvSpPr>
          <p:cNvPr id="26" name="opcao-72"/>
          <p:cNvSpPr/>
          <p:nvPr/>
        </p:nvSpPr>
        <p:spPr>
          <a:xfrm>
            <a:off x="8567928" y="3127248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o-73"/>
          <p:cNvSpPr txBox="1"/>
          <p:nvPr/>
        </p:nvSpPr>
        <p:spPr>
          <a:xfrm>
            <a:off x="8732520" y="31272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não compareceu</a:t>
            </a:r>
            <a:endParaRPr lang="en-US" sz="1100" dirty="0"/>
          </a:p>
        </p:txBody>
      </p:sp>
      <p:sp>
        <p:nvSpPr>
          <p:cNvPr id="28" name="texto-74"/>
          <p:cNvSpPr txBox="1"/>
          <p:nvPr/>
        </p:nvSpPr>
        <p:spPr>
          <a:xfrm>
            <a:off x="8567928" y="3630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foi?</a:t>
            </a:r>
            <a:endParaRPr lang="en-US" sz="900" dirty="0"/>
          </a:p>
        </p:txBody>
      </p:sp>
      <p:sp>
        <p:nvSpPr>
          <p:cNvPr id="29" name="opcao-75"/>
          <p:cNvSpPr/>
          <p:nvPr/>
        </p:nvSpPr>
        <p:spPr>
          <a:xfrm>
            <a:off x="8567928" y="3877056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30" name="texto-76"/>
          <p:cNvSpPr txBox="1"/>
          <p:nvPr/>
        </p:nvSpPr>
        <p:spPr>
          <a:xfrm>
            <a:off x="8732520" y="387705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Positiva</a:t>
            </a:r>
            <a:endParaRPr lang="en-US" sz="1100" dirty="0"/>
          </a:p>
        </p:txBody>
      </p:sp>
      <p:sp>
        <p:nvSpPr>
          <p:cNvPr id="31" name="opcao-77"/>
          <p:cNvSpPr/>
          <p:nvPr/>
        </p:nvSpPr>
        <p:spPr>
          <a:xfrm>
            <a:off x="8567928" y="4315968"/>
            <a:ext cx="224942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32" name="texto-78"/>
          <p:cNvSpPr txBox="1"/>
          <p:nvPr/>
        </p:nvSpPr>
        <p:spPr>
          <a:xfrm>
            <a:off x="873252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decidindo</a:t>
            </a:r>
            <a:endParaRPr lang="en-US" sz="1100" dirty="0"/>
          </a:p>
        </p:txBody>
      </p:sp>
      <p:sp>
        <p:nvSpPr>
          <p:cNvPr id="33" name="botao-79"/>
          <p:cNvSpPr/>
          <p:nvPr/>
        </p:nvSpPr>
        <p:spPr>
          <a:xfrm>
            <a:off x="8567928" y="5102352"/>
            <a:ext cx="224942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4" name="texto-80"/>
          <p:cNvSpPr txBox="1"/>
          <p:nvPr/>
        </p:nvSpPr>
        <p:spPr>
          <a:xfrm>
            <a:off x="8567928" y="510235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Salvar</a:t>
            </a:r>
            <a:endParaRPr lang="en-US" sz="13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Cliente que volta é reconhecido na hora</a:t>
            </a:r>
            <a:endParaRPr lang="en-US" sz="3800" dirty="0"/>
          </a:p>
        </p:txBody>
      </p:sp>
      <p:sp>
        <p:nvSpPr>
          <p:cNvPr id="3" name="texto-81"/>
          <p:cNvSpPr txBox="1"/>
          <p:nvPr/>
        </p:nvSpPr>
        <p:spPr>
          <a:xfrm>
            <a:off x="685800" y="16002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cliente já visitou antes, a visita chega marcada. A consultora já sabe que é alguém que voltou.</a:t>
            </a:r>
            <a:endParaRPr lang="en-US" sz="2000" dirty="0"/>
          </a:p>
        </p:txBody>
      </p:sp>
      <p:sp>
        <p:nvSpPr>
          <p:cNvPr id="4" name="texto-82"/>
          <p:cNvSpPr txBox="1"/>
          <p:nvPr/>
        </p:nvSpPr>
        <p:spPr>
          <a:xfrm>
            <a:off x="685800" y="297180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se for a consultora que combinou a nova visita, ela marca pelo próprio app, com os dados do cliente já preenchidos.</a:t>
            </a:r>
            <a:endParaRPr lang="en-US" sz="2000" dirty="0"/>
          </a:p>
        </p:txBody>
      </p:sp>
      <p:sp>
        <p:nvSpPr>
          <p:cNvPr id="5" name="cartao-visita-83"/>
          <p:cNvSpPr/>
          <p:nvPr/>
        </p:nvSpPr>
        <p:spPr>
          <a:xfrm>
            <a:off x="6949440" y="1737360"/>
            <a:ext cx="4572000" cy="3566160"/>
          </a:xfrm>
          <a:prstGeom prst="roundRect">
            <a:avLst>
              <a:gd name="adj" fmla="val 641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778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o-84"/>
          <p:cNvSpPr txBox="1"/>
          <p:nvPr/>
        </p:nvSpPr>
        <p:spPr>
          <a:xfrm>
            <a:off x="73609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14:00</a:t>
            </a:r>
            <a:endParaRPr lang="en-US" sz="2200" dirty="0"/>
          </a:p>
        </p:txBody>
      </p:sp>
      <p:sp>
        <p:nvSpPr>
          <p:cNvPr id="7" name="texto-85"/>
          <p:cNvSpPr txBox="1"/>
          <p:nvPr/>
        </p:nvSpPr>
        <p:spPr>
          <a:xfrm>
            <a:off x="736092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Souza</a:t>
            </a:r>
            <a:endParaRPr lang="en-US" sz="2600" dirty="0"/>
          </a:p>
        </p:txBody>
      </p:sp>
      <p:sp>
        <p:nvSpPr>
          <p:cNvPr id="8" name="texto-86"/>
          <p:cNvSpPr txBox="1"/>
          <p:nvPr/>
        </p:nvSpPr>
        <p:spPr>
          <a:xfrm>
            <a:off x="7360920" y="3200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Imóvel 734999</a:t>
            </a:r>
            <a:endParaRPr lang="en-US" sz="1600" dirty="0"/>
          </a:p>
        </p:txBody>
      </p:sp>
      <p:sp>
        <p:nvSpPr>
          <p:cNvPr id="9" name="selo-87"/>
          <p:cNvSpPr/>
          <p:nvPr/>
        </p:nvSpPr>
        <p:spPr>
          <a:xfrm>
            <a:off x="7360920" y="3886200"/>
            <a:ext cx="329184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0" name="texto-88"/>
          <p:cNvSpPr txBox="1"/>
          <p:nvPr/>
        </p:nvSpPr>
        <p:spPr>
          <a:xfrm>
            <a:off x="7360920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Revisita · já visitou 1 vez</a:t>
            </a:r>
            <a:endParaRPr lang="en-US" sz="1400" dirty="0"/>
          </a:p>
        </p:txBody>
      </p:sp>
      <p:sp>
        <p:nvSpPr>
          <p:cNvPr id="11" name="selo-89"/>
          <p:cNvSpPr/>
          <p:nvPr/>
        </p:nvSpPr>
        <p:spPr>
          <a:xfrm>
            <a:off x="7360920" y="4480560"/>
            <a:ext cx="283464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2" name="texto-90"/>
          <p:cNvSpPr txBox="1"/>
          <p:nvPr/>
        </p:nvSpPr>
        <p:spPr>
          <a:xfrm>
            <a:off x="7360920" y="44805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Agendada pela consultora</a:t>
            </a:r>
            <a:endParaRPr lang="en-US" sz="1400" dirty="0"/>
          </a:p>
        </p:txBody>
      </p:sp>
      <p:sp>
        <p:nvSpPr>
          <p:cNvPr id="1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 gestão enxerga o funil inteiro</a:t>
            </a:r>
            <a:endParaRPr lang="en-US" sz="3800" dirty="0"/>
          </a:p>
        </p:txBody>
      </p:sp>
      <p:sp>
        <p:nvSpPr>
          <p:cNvPr id="3" name="cartao-91"/>
          <p:cNvSpPr/>
          <p:nvPr/>
        </p:nvSpPr>
        <p:spPr>
          <a:xfrm>
            <a:off x="685800" y="169164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icone-fundo-92"/>
          <p:cNvSpPr/>
          <p:nvPr/>
        </p:nvSpPr>
        <p:spPr>
          <a:xfrm>
            <a:off x="105156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-9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2350008"/>
            <a:ext cx="512064" cy="512064"/>
          </a:xfrm>
          <a:prstGeom prst="rect">
            <a:avLst/>
          </a:prstGeom>
        </p:spPr>
      </p:pic>
      <p:sp>
        <p:nvSpPr>
          <p:cNvPr id="6" name="texto-94"/>
          <p:cNvSpPr txBox="1"/>
          <p:nvPr/>
        </p:nvSpPr>
        <p:spPr>
          <a:xfrm>
            <a:off x="2240280" y="2075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</a:t>
            </a:r>
            <a:endParaRPr lang="en-US" sz="2600" dirty="0"/>
          </a:p>
        </p:txBody>
      </p:sp>
      <p:sp>
        <p:nvSpPr>
          <p:cNvPr id="7" name="texto-95"/>
          <p:cNvSpPr txBox="1"/>
          <p:nvPr/>
        </p:nvSpPr>
        <p:spPr>
          <a:xfrm>
            <a:off x="2240280" y="2560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Visitas, resultados e evolução semana a semana</a:t>
            </a:r>
            <a:endParaRPr lang="en-US" sz="1700" dirty="0"/>
          </a:p>
        </p:txBody>
      </p:sp>
      <p:sp>
        <p:nvSpPr>
          <p:cNvPr id="8" name="cartao-96"/>
          <p:cNvSpPr/>
          <p:nvPr/>
        </p:nvSpPr>
        <p:spPr>
          <a:xfrm>
            <a:off x="6172200" y="169164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icone-fundo-97"/>
          <p:cNvSpPr/>
          <p:nvPr/>
        </p:nvSpPr>
        <p:spPr>
          <a:xfrm>
            <a:off x="6537960" y="214884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-9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128" y="2350008"/>
            <a:ext cx="512064" cy="512064"/>
          </a:xfrm>
          <a:prstGeom prst="rect">
            <a:avLst/>
          </a:prstGeom>
        </p:spPr>
      </p:pic>
      <p:sp>
        <p:nvSpPr>
          <p:cNvPr id="11" name="texto-99"/>
          <p:cNvSpPr txBox="1"/>
          <p:nvPr/>
        </p:nvSpPr>
        <p:spPr>
          <a:xfrm>
            <a:off x="7726680" y="207568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</a:t>
            </a:r>
            <a:endParaRPr lang="en-US" sz="2600" dirty="0"/>
          </a:p>
        </p:txBody>
      </p:sp>
      <p:sp>
        <p:nvSpPr>
          <p:cNvPr id="12" name="texto-100"/>
          <p:cNvSpPr txBox="1"/>
          <p:nvPr/>
        </p:nvSpPr>
        <p:spPr>
          <a:xfrm>
            <a:off x="7726680" y="256032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ficou sem registro, com lembrete no celular</a:t>
            </a:r>
            <a:endParaRPr lang="en-US" sz="1700" dirty="0"/>
          </a:p>
        </p:txBody>
      </p:sp>
      <p:sp>
        <p:nvSpPr>
          <p:cNvPr id="13" name="cartao-101"/>
          <p:cNvSpPr/>
          <p:nvPr/>
        </p:nvSpPr>
        <p:spPr>
          <a:xfrm>
            <a:off x="685800" y="379476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4" name="icone-fundo-102"/>
          <p:cNvSpPr/>
          <p:nvPr/>
        </p:nvSpPr>
        <p:spPr>
          <a:xfrm>
            <a:off x="1051560" y="4251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-10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4453128"/>
            <a:ext cx="512064" cy="512064"/>
          </a:xfrm>
          <a:prstGeom prst="rect">
            <a:avLst/>
          </a:prstGeom>
        </p:spPr>
      </p:pic>
      <p:sp>
        <p:nvSpPr>
          <p:cNvPr id="16" name="texto-104"/>
          <p:cNvSpPr txBox="1"/>
          <p:nvPr/>
        </p:nvSpPr>
        <p:spPr>
          <a:xfrm>
            <a:off x="2240280" y="4178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Andamento</a:t>
            </a:r>
            <a:endParaRPr lang="en-US" sz="2600" dirty="0"/>
          </a:p>
        </p:txBody>
      </p:sp>
      <p:sp>
        <p:nvSpPr>
          <p:cNvPr id="17" name="texto-105"/>
          <p:cNvSpPr txBox="1"/>
          <p:nvPr/>
        </p:nvSpPr>
        <p:spPr>
          <a:xfrm>
            <a:off x="2240280" y="4663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cliente até a locação fechada</a:t>
            </a:r>
            <a:endParaRPr lang="en-US" sz="1700" dirty="0"/>
          </a:p>
        </p:txBody>
      </p:sp>
      <p:sp>
        <p:nvSpPr>
          <p:cNvPr id="18" name="cartao-106"/>
          <p:cNvSpPr/>
          <p:nvPr/>
        </p:nvSpPr>
        <p:spPr>
          <a:xfrm>
            <a:off x="6172200" y="3794760"/>
            <a:ext cx="5212080" cy="18288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9" name="icone-fundo-107"/>
          <p:cNvSpPr/>
          <p:nvPr/>
        </p:nvSpPr>
        <p:spPr>
          <a:xfrm>
            <a:off x="6537960" y="4251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icone-10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128" y="4453128"/>
            <a:ext cx="512064" cy="512064"/>
          </a:xfrm>
          <a:prstGeom prst="rect">
            <a:avLst/>
          </a:prstGeom>
        </p:spPr>
      </p:pic>
      <p:sp>
        <p:nvSpPr>
          <p:cNvPr id="21" name="texto-109"/>
          <p:cNvSpPr txBox="1"/>
          <p:nvPr/>
        </p:nvSpPr>
        <p:spPr>
          <a:xfrm>
            <a:off x="7726680" y="417880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Imóveis</a:t>
            </a:r>
            <a:endParaRPr lang="en-US" sz="2600" dirty="0"/>
          </a:p>
        </p:txBody>
      </p:sp>
      <p:sp>
        <p:nvSpPr>
          <p:cNvPr id="22" name="texto-110"/>
          <p:cNvSpPr txBox="1"/>
          <p:nvPr/>
        </p:nvSpPr>
        <p:spPr>
          <a:xfrm>
            <a:off x="7726680" y="46634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imóveis recebem mais recusas e por quê</a:t>
            </a:r>
            <a:endParaRPr lang="en-US" sz="1700" dirty="0"/>
          </a:p>
        </p:txBody>
      </p:sp>
      <p:sp>
        <p:nvSpPr>
          <p:cNvPr id="2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108200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Menos achismo. Mais visitas que viram contrato.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411480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Com o registro de todas, a gente descobre onde ajudar cada uma.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Nosso combinado</a:t>
            </a:r>
            <a:endParaRPr lang="en-US" sz="3800" dirty="0"/>
          </a:p>
        </p:txBody>
      </p:sp>
      <p:sp>
        <p:nvSpPr>
          <p:cNvPr id="3" name="icone-fundo-111"/>
          <p:cNvSpPr/>
          <p:nvPr/>
        </p:nvSpPr>
        <p:spPr>
          <a:xfrm>
            <a:off x="685800" y="17373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e-11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938528"/>
            <a:ext cx="512064" cy="512064"/>
          </a:xfrm>
          <a:prstGeom prst="rect">
            <a:avLst/>
          </a:prstGeom>
        </p:spPr>
      </p:pic>
      <p:sp>
        <p:nvSpPr>
          <p:cNvPr id="5" name="texto-113"/>
          <p:cNvSpPr txBox="1"/>
          <p:nvPr/>
        </p:nvSpPr>
        <p:spPr>
          <a:xfrm>
            <a:off x="1965960" y="17556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convite</a:t>
            </a:r>
            <a:endParaRPr lang="en-US" sz="2600" dirty="0"/>
          </a:p>
        </p:txBody>
      </p:sp>
      <p:sp>
        <p:nvSpPr>
          <p:cNvPr id="6" name="texto-114"/>
          <p:cNvSpPr txBox="1"/>
          <p:nvPr/>
        </p:nvSpPr>
        <p:spPr>
          <a:xfrm>
            <a:off x="1965960" y="22128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Jasmin convida a consultora e a conta do sistema em toda visita.</a:t>
            </a:r>
            <a:endParaRPr lang="en-US" sz="1900" dirty="0"/>
          </a:p>
        </p:txBody>
      </p:sp>
      <p:sp>
        <p:nvSpPr>
          <p:cNvPr id="7" name="icone-fundo-115"/>
          <p:cNvSpPr/>
          <p:nvPr/>
        </p:nvSpPr>
        <p:spPr>
          <a:xfrm>
            <a:off x="685800" y="31089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e-1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310128"/>
            <a:ext cx="512064" cy="512064"/>
          </a:xfrm>
          <a:prstGeom prst="rect">
            <a:avLst/>
          </a:prstGeom>
        </p:spPr>
      </p:pic>
      <p:sp>
        <p:nvSpPr>
          <p:cNvPr id="9" name="texto-117"/>
          <p:cNvSpPr txBox="1"/>
          <p:nvPr/>
        </p:nvSpPr>
        <p:spPr>
          <a:xfrm>
            <a:off x="1965960" y="31272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dia</a:t>
            </a:r>
            <a:endParaRPr lang="en-US" sz="2600" dirty="0"/>
          </a:p>
        </p:txBody>
      </p:sp>
      <p:sp>
        <p:nvSpPr>
          <p:cNvPr id="10" name="texto-118"/>
          <p:cNvSpPr txBox="1"/>
          <p:nvPr/>
        </p:nvSpPr>
        <p:spPr>
          <a:xfrm>
            <a:off x="1965960" y="35844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logo depois da visita, de preferência ao sair do imóvel.</a:t>
            </a:r>
            <a:endParaRPr lang="en-US" sz="1900" dirty="0"/>
          </a:p>
        </p:txBody>
      </p:sp>
      <p:sp>
        <p:nvSpPr>
          <p:cNvPr id="11" name="icone-fundo-119"/>
          <p:cNvSpPr/>
          <p:nvPr/>
        </p:nvSpPr>
        <p:spPr>
          <a:xfrm>
            <a:off x="685800" y="448056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e-1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4681728"/>
            <a:ext cx="512064" cy="512064"/>
          </a:xfrm>
          <a:prstGeom prst="rect">
            <a:avLst/>
          </a:prstGeom>
        </p:spPr>
      </p:pic>
      <p:sp>
        <p:nvSpPr>
          <p:cNvPr id="13" name="texto-121"/>
          <p:cNvSpPr txBox="1"/>
          <p:nvPr/>
        </p:nvSpPr>
        <p:spPr>
          <a:xfrm>
            <a:off x="1965960" y="4498848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Sempre com observação</a:t>
            </a:r>
            <a:endParaRPr lang="en-US" sz="2600" dirty="0"/>
          </a:p>
        </p:txBody>
      </p:sp>
      <p:sp>
        <p:nvSpPr>
          <p:cNvPr id="14" name="texto-122"/>
          <p:cNvSpPr txBox="1"/>
          <p:nvPr/>
        </p:nvSpPr>
        <p:spPr>
          <a:xfrm>
            <a:off x="1965960" y="495604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basta. É ela que explica o número.</a:t>
            </a:r>
            <a:endParaRPr lang="en-US" sz="190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Para começar hoje</a:t>
            </a:r>
            <a:endParaRPr lang="en-US" sz="3800" dirty="0"/>
          </a:p>
        </p:txBody>
      </p:sp>
      <p:sp>
        <p:nvSpPr>
          <p:cNvPr id="3" name="cartao-123"/>
          <p:cNvSpPr/>
          <p:nvPr/>
        </p:nvSpPr>
        <p:spPr>
          <a:xfrm>
            <a:off x="685800" y="1828800"/>
            <a:ext cx="3383280" cy="356616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icone-fundo-124"/>
          <p:cNvSpPr/>
          <p:nvPr/>
        </p:nvSpPr>
        <p:spPr>
          <a:xfrm>
            <a:off x="109728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e-12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2487168"/>
            <a:ext cx="512064" cy="512064"/>
          </a:xfrm>
          <a:prstGeom prst="rect">
            <a:avLst/>
          </a:prstGeom>
        </p:spPr>
      </p:pic>
      <p:sp>
        <p:nvSpPr>
          <p:cNvPr id="6" name="texto-126"/>
          <p:cNvSpPr txBox="1"/>
          <p:nvPr/>
        </p:nvSpPr>
        <p:spPr>
          <a:xfrm>
            <a:off x="109728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acesso</a:t>
            </a:r>
            <a:endParaRPr lang="en-US" sz="2400" dirty="0"/>
          </a:p>
        </p:txBody>
      </p:sp>
      <p:sp>
        <p:nvSpPr>
          <p:cNvPr id="7" name="texto-127"/>
          <p:cNvSpPr txBox="1"/>
          <p:nvPr/>
        </p:nvSpPr>
        <p:spPr>
          <a:xfrm>
            <a:off x="1097280" y="4114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com a senha provisória e criar a sua.</a:t>
            </a:r>
            <a:endParaRPr lang="en-US" sz="1800" dirty="0"/>
          </a:p>
        </p:txBody>
      </p:sp>
      <p:sp>
        <p:nvSpPr>
          <p:cNvPr id="8" name="cartao-128"/>
          <p:cNvSpPr/>
          <p:nvPr/>
        </p:nvSpPr>
        <p:spPr>
          <a:xfrm>
            <a:off x="4343400" y="1828800"/>
            <a:ext cx="3383280" cy="356616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9" name="icone-fundo-129"/>
          <p:cNvSpPr/>
          <p:nvPr/>
        </p:nvSpPr>
        <p:spPr>
          <a:xfrm>
            <a:off x="475488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e-1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487168"/>
            <a:ext cx="512064" cy="512064"/>
          </a:xfrm>
          <a:prstGeom prst="rect">
            <a:avLst/>
          </a:prstGeom>
        </p:spPr>
      </p:pic>
      <p:sp>
        <p:nvSpPr>
          <p:cNvPr id="11" name="texto-131"/>
          <p:cNvSpPr txBox="1"/>
          <p:nvPr/>
        </p:nvSpPr>
        <p:spPr>
          <a:xfrm>
            <a:off x="475488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o app</a:t>
            </a:r>
            <a:endParaRPr lang="en-US" sz="2400" dirty="0"/>
          </a:p>
        </p:txBody>
      </p:sp>
      <p:sp>
        <p:nvSpPr>
          <p:cNvPr id="12" name="texto-132"/>
          <p:cNvSpPr txBox="1"/>
          <p:nvPr/>
        </p:nvSpPr>
        <p:spPr>
          <a:xfrm>
            <a:off x="4754880" y="4114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Adicionar à tela de início, como um app.</a:t>
            </a:r>
            <a:endParaRPr lang="en-US" sz="1800" dirty="0"/>
          </a:p>
        </p:txBody>
      </p:sp>
      <p:sp>
        <p:nvSpPr>
          <p:cNvPr id="13" name="cartao-133"/>
          <p:cNvSpPr/>
          <p:nvPr/>
        </p:nvSpPr>
        <p:spPr>
          <a:xfrm>
            <a:off x="8001000" y="1828800"/>
            <a:ext cx="3383280" cy="356616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4" name="icone-fundo-134"/>
          <p:cNvSpPr/>
          <p:nvPr/>
        </p:nvSpPr>
        <p:spPr>
          <a:xfrm>
            <a:off x="8412480" y="228600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e-13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2487168"/>
            <a:ext cx="512064" cy="512064"/>
          </a:xfrm>
          <a:prstGeom prst="rect">
            <a:avLst/>
          </a:prstGeom>
        </p:spPr>
      </p:pic>
      <p:sp>
        <p:nvSpPr>
          <p:cNvPr id="16" name="texto-136"/>
          <p:cNvSpPr txBox="1"/>
          <p:nvPr/>
        </p:nvSpPr>
        <p:spPr>
          <a:xfrm>
            <a:off x="8412480" y="35204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Ativar lembretes</a:t>
            </a:r>
            <a:endParaRPr lang="en-US" sz="2400" dirty="0"/>
          </a:p>
        </p:txBody>
      </p:sp>
      <p:sp>
        <p:nvSpPr>
          <p:cNvPr id="17" name="texto-137"/>
          <p:cNvSpPr txBox="1"/>
          <p:nvPr/>
        </p:nvSpPr>
        <p:spPr>
          <a:xfrm>
            <a:off x="8412480" y="41148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Receber um aviso quando houver visita sem registro.</a:t>
            </a:r>
            <a:endParaRPr lang="en-US" sz="1800" dirty="0"/>
          </a:p>
        </p:txBody>
      </p:sp>
      <p:sp>
        <p:nvSpPr>
          <p:cNvPr id="1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685800" y="629107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85800" y="233172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Cada visita conta.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85800" y="39776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6"/>
                </a:solidFill>
              </a:rPr>
              <a:t>Dúvidas? Fale com a gestão.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xiliadora Visitas">
  <a:themeElements>
    <a:clrScheme name="Auxiliadora Visitas">
      <a:dk1>
        <a:srgbClr val="1F2124"/>
      </a:dk1>
      <a:lt1>
        <a:srgbClr val="FFFFFF"/>
      </a:lt1>
      <a:dk2>
        <a:srgbClr val="5A5F66"/>
      </a:dk2>
      <a:lt2>
        <a:srgbClr val="F4F3F0"/>
      </a:lt2>
      <a:accent1>
        <a:srgbClr val="DC7519"/>
      </a:accent1>
      <a:accent2>
        <a:srgbClr val="FBEBDD"/>
      </a:accent2>
      <a:accent3>
        <a:srgbClr val="2E3135"/>
      </a:accent3>
      <a:accent4>
        <a:srgbClr val="3B8A5A"/>
      </a:accent4>
      <a:accent5>
        <a:srgbClr val="B4442F"/>
      </a:accent5>
      <a:accent6>
        <a:srgbClr val="E3E1DC"/>
      </a:accent6>
      <a:hlink>
        <a:srgbClr val="DC7519"/>
      </a:hlink>
      <a:folHlink>
        <a:srgbClr val="5A5F66"/>
      </a:folHlink>
    </a:clrScheme>
    <a:fontScheme name="Auxiliadora Visit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Auxiliadora Predial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Visitas Locação</dc:title>
  <dc:subject>PptxGenJS Presentation</dc:subject>
  <dc:creator>Auxiliadora Predial</dc:creator>
  <cp:lastModifiedBy>Auxiliadora Predial</cp:lastModifiedBy>
  <cp:revision>1</cp:revision>
  <dcterms:created xsi:type="dcterms:W3CDTF">2026-10-13T15:23:33Z</dcterms:created>
  <dcterms:modified xsi:type="dcterms:W3CDTF">2026-10-13T15:23:33Z</dcterms:modified>
</cp:coreProperties>
</file>